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League Spartan" charset="1" panose="00000800000000000000"/>
      <p:regular r:id="rId37"/>
    </p:embeddedFont>
    <p:embeddedFont>
      <p:font typeface="Montserrat Bold" charset="1" panose="00000800000000000000"/>
      <p:regular r:id="rId38"/>
    </p:embeddedFont>
    <p:embeddedFont>
      <p:font typeface="DM Sans" charset="1" panose="00000000000000000000"/>
      <p:regular r:id="rId39"/>
    </p:embeddedFont>
    <p:embeddedFont>
      <p:font typeface="DM Sans Bold" charset="1" panose="00000000000000000000"/>
      <p:regular r:id="rId40"/>
    </p:embeddedFont>
    <p:embeddedFont>
      <p:font typeface="Libre Baskerville" charset="1" panose="02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" y="0"/>
            <a:ext cx="18286219" cy="10041150"/>
            <a:chOff x="0" y="0"/>
            <a:chExt cx="24381625" cy="1338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1588" cy="13388212"/>
            </a:xfrm>
            <a:custGeom>
              <a:avLst/>
              <a:gdLst/>
              <a:ahLst/>
              <a:cxnLst/>
              <a:rect r="r" b="b" t="t" l="l"/>
              <a:pathLst>
                <a:path h="13388212" w="24381588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42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00780" y="5143500"/>
            <a:ext cx="10686431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GROCERY STORE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87227" y="2541374"/>
            <a:ext cx="551354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b="true" sz="49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43603" y="4814887"/>
            <a:ext cx="92007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Herold Hercules</a:t>
            </a:r>
            <a:r>
              <a:rPr lang="en-US" b="true" sz="44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b="true" sz="44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</a:t>
            </a: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Swanthana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96725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00087"/>
            <a:ext cx="317265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8861" y="1664556"/>
            <a:ext cx="16645964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main goals of this SQL project are:</a:t>
            </a:r>
          </a:p>
          <a:p>
            <a:pPr algn="l">
              <a:lnSpc>
                <a:spcPts val="3658"/>
              </a:lnSpc>
            </a:pPr>
          </a:p>
          <a:p>
            <a:pPr algn="l" marL="658258" indent="-329129" lvl="1">
              <a:lnSpc>
                <a:spcPts val="3658"/>
              </a:lnSpc>
              <a:buFont typeface="Arial"/>
              <a:buChar char="•"/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design and implement a relational database for a grocery store that organizes data related to customers, products, suppliers, employees, and orders.</a:t>
            </a:r>
          </a:p>
          <a:p>
            <a:pPr algn="l">
              <a:lnSpc>
                <a:spcPts val="3658"/>
              </a:lnSpc>
            </a:pPr>
          </a:p>
          <a:p>
            <a:pPr algn="l" marL="658258" indent="-329129" lvl="1">
              <a:lnSpc>
                <a:spcPts val="3658"/>
              </a:lnSpc>
              <a:buFont typeface="Arial"/>
              <a:buChar char="•"/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retrieve, manage, and manipulate data using SQL queries to support daily operations and reporting needs.</a:t>
            </a:r>
          </a:p>
          <a:p>
            <a:pPr algn="l">
              <a:lnSpc>
                <a:spcPts val="3658"/>
              </a:lnSpc>
            </a:pPr>
          </a:p>
          <a:p>
            <a:pPr algn="l" marL="658258" indent="-329129" lvl="1">
              <a:lnSpc>
                <a:spcPts val="3658"/>
              </a:lnSpc>
              <a:buFont typeface="Arial"/>
              <a:buChar char="•"/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analyze sales data to generate business insights such as identifying top customers, high-performing products, and revenue patterns.</a:t>
            </a:r>
          </a:p>
          <a:p>
            <a:pPr algn="l">
              <a:lnSpc>
                <a:spcPts val="3658"/>
              </a:lnSpc>
            </a:pPr>
          </a:p>
          <a:p>
            <a:pPr algn="l" marL="658258" indent="-329129" lvl="1">
              <a:lnSpc>
                <a:spcPts val="3658"/>
              </a:lnSpc>
              <a:buFont typeface="Arial"/>
              <a:buChar char="•"/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evaluate operational performance by examining trends in orders, supplier contributions, and employee activities.</a:t>
            </a:r>
          </a:p>
          <a:p>
            <a:pPr algn="l">
              <a:lnSpc>
                <a:spcPts val="3658"/>
              </a:lnSpc>
            </a:pPr>
          </a:p>
          <a:p>
            <a:pPr algn="l" marL="658258" indent="-329129" lvl="1">
              <a:lnSpc>
                <a:spcPts val="3658"/>
              </a:lnSpc>
              <a:buFont typeface="Arial"/>
              <a:buChar char="•"/>
            </a:pPr>
            <a:r>
              <a:rPr lang="en-US" sz="30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ensure data integrity and consistency through the use of primary keys, foreign keys, and well-defined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96725" y="9258300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130256" y="2048646"/>
            <a:ext cx="7904569" cy="6189709"/>
          </a:xfrm>
          <a:custGeom>
            <a:avLst/>
            <a:gdLst/>
            <a:ahLst/>
            <a:cxnLst/>
            <a:rect r="r" b="b" t="t" l="l"/>
            <a:pathLst>
              <a:path h="6189709" w="7904569">
                <a:moveTo>
                  <a:pt x="0" y="0"/>
                </a:moveTo>
                <a:lnTo>
                  <a:pt x="7904569" y="0"/>
                </a:lnTo>
                <a:lnTo>
                  <a:pt x="7904569" y="6189708"/>
                </a:lnTo>
                <a:lnTo>
                  <a:pt x="0" y="6189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1729" y="880168"/>
            <a:ext cx="1117711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Diagram and Schema Explanation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1729" y="1824312"/>
            <a:ext cx="9443798" cy="754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 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supplier to products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One supplier provides many products; each product has one supplier.</a:t>
            </a:r>
          </a:p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categories to products 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One category contains many products; each product belongs to one category.</a:t>
            </a:r>
          </a:p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 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products to order_details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A product appears in many order details; each detail refers to one product.</a:t>
            </a:r>
          </a:p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 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orders to order_details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One order has many details; each detail belongs to one order.</a:t>
            </a:r>
          </a:p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customers to orders 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A customer places many orders; each order belongs to one customer.</a:t>
            </a:r>
          </a:p>
          <a:p>
            <a:pPr algn="l" marL="594835" indent="-297417" lvl="1">
              <a:lnSpc>
                <a:spcPts val="3306"/>
              </a:lnSpc>
              <a:buFont typeface="Arial"/>
              <a:buChar char="•"/>
            </a:pP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One-to-Many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 </a:t>
            </a:r>
            <a:r>
              <a:rPr lang="en-US" b="true" sz="27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employees to orders </a:t>
            </a:r>
            <a:r>
              <a:rPr lang="en-US" sz="27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An employee handles many orders; each order is handled by one employee.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8001" y="9258300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99391" y="3441187"/>
            <a:ext cx="1088921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b="true" sz="4799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analysis questions (use cases)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45542" y="4476750"/>
            <a:ext cx="579691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Insights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5704" y="1190819"/>
            <a:ext cx="9402795" cy="3952681"/>
          </a:xfrm>
          <a:custGeom>
            <a:avLst/>
            <a:gdLst/>
            <a:ahLst/>
            <a:cxnLst/>
            <a:rect r="r" b="b" t="t" l="l"/>
            <a:pathLst>
              <a:path h="3952681" w="9402795">
                <a:moveTo>
                  <a:pt x="0" y="0"/>
                </a:moveTo>
                <a:lnTo>
                  <a:pt x="9402795" y="0"/>
                </a:lnTo>
                <a:lnTo>
                  <a:pt x="9402795" y="3952681"/>
                </a:lnTo>
                <a:lnTo>
                  <a:pt x="0" y="3952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0719" y="5295900"/>
            <a:ext cx="15219072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465" indent="-333732" lvl="1">
              <a:lnSpc>
                <a:spcPts val="3709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 </a:t>
            </a:r>
            <a:r>
              <a:rPr lang="en-US" b="true" sz="30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number of active customers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who made purchases.</a:t>
            </a:r>
          </a:p>
          <a:p>
            <a:pPr algn="l">
              <a:lnSpc>
                <a:spcPts val="3709"/>
              </a:lnSpc>
            </a:pPr>
          </a:p>
          <a:p>
            <a:pPr algn="l" marL="667465" indent="-333732" lvl="1">
              <a:lnSpc>
                <a:spcPts val="3709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Indicates </a:t>
            </a:r>
            <a:r>
              <a:rPr lang="en-US" b="true" sz="30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engagement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market reach.</a:t>
            </a:r>
          </a:p>
          <a:p>
            <a:pPr algn="l">
              <a:lnSpc>
                <a:spcPts val="3709"/>
              </a:lnSpc>
            </a:pPr>
          </a:p>
          <a:p>
            <a:pPr algn="l" marL="667465" indent="-333732" lvl="1">
              <a:lnSpc>
                <a:spcPts val="3709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elps evaluate </a:t>
            </a:r>
            <a:r>
              <a:rPr lang="en-US" b="true" sz="30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retention and acquisition.</a:t>
            </a:r>
          </a:p>
          <a:p>
            <a:pPr algn="l">
              <a:lnSpc>
                <a:spcPts val="3709"/>
              </a:lnSpc>
            </a:pPr>
          </a:p>
          <a:p>
            <a:pPr algn="l" marL="667465" indent="-333732" lvl="1">
              <a:lnSpc>
                <a:spcPts val="3709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tracking </a:t>
            </a:r>
            <a:r>
              <a:rPr lang="en-US" b="true" sz="30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growth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over time.</a:t>
            </a:r>
          </a:p>
          <a:p>
            <a:pPr algn="l">
              <a:lnSpc>
                <a:spcPts val="3709"/>
              </a:lnSpc>
            </a:pPr>
          </a:p>
          <a:p>
            <a:pPr algn="l" marL="667465" indent="-333732" lvl="1">
              <a:lnSpc>
                <a:spcPts val="3709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0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upports planning for </a:t>
            </a:r>
            <a:r>
              <a:rPr lang="en-US" b="true" sz="30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marketing and loyalty strategies.</a:t>
            </a:r>
          </a:p>
          <a:p>
            <a:pPr algn="l">
              <a:lnSpc>
                <a:spcPts val="370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3400"/>
            <a:ext cx="1008007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How many unique customers have placed orders?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258001" y="9277474"/>
            <a:ext cx="4838100" cy="1009526"/>
            <a:chOff x="0" y="0"/>
            <a:chExt cx="6450800" cy="1346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24368" y="1618001"/>
            <a:ext cx="6934932" cy="7050998"/>
          </a:xfrm>
          <a:custGeom>
            <a:avLst/>
            <a:gdLst/>
            <a:ahLst/>
            <a:cxnLst/>
            <a:rect r="r" b="b" t="t" l="l"/>
            <a:pathLst>
              <a:path h="7050998" w="6934932">
                <a:moveTo>
                  <a:pt x="0" y="0"/>
                </a:moveTo>
                <a:lnTo>
                  <a:pt x="6934932" y="0"/>
                </a:lnTo>
                <a:lnTo>
                  <a:pt x="6934932" y="7050998"/>
                </a:lnTo>
                <a:lnTo>
                  <a:pt x="0" y="705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7090" y="781050"/>
            <a:ext cx="1144857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Who are the top 5 customers by total purchase amount?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1969" y="1884204"/>
            <a:ext cx="9745549" cy="771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040" indent="-368520" lvl="1">
              <a:lnSpc>
                <a:spcPts val="4096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the </a:t>
            </a:r>
            <a:r>
              <a:rPr lang="en-US" b="true" sz="341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highest-value customers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contrib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ng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most revenue.</a:t>
            </a:r>
          </a:p>
          <a:p>
            <a:pPr algn="l">
              <a:lnSpc>
                <a:spcPts val="4096"/>
              </a:lnSpc>
            </a:pPr>
          </a:p>
          <a:p>
            <a:pPr algn="l" marL="737040" indent="-368520" lvl="1">
              <a:lnSpc>
                <a:spcPts val="4096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focus on </a:t>
            </a:r>
            <a:r>
              <a:rPr lang="en-US" b="true" sz="341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VIP customer retention 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son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alized offers</a:t>
            </a: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4096"/>
              </a:lnSpc>
            </a:pPr>
          </a:p>
          <a:p>
            <a:pPr algn="l" marL="737040" indent="-368520" lvl="1">
              <a:lnSpc>
                <a:spcPts val="4096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Reveals </a:t>
            </a:r>
            <a:r>
              <a:rPr lang="en-US" b="true" sz="341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spending patterns and customer loyalty.</a:t>
            </a:r>
          </a:p>
          <a:p>
            <a:pPr algn="l">
              <a:lnSpc>
                <a:spcPts val="4096"/>
              </a:lnSpc>
            </a:pPr>
          </a:p>
          <a:p>
            <a:pPr algn="l" marL="737040" indent="-368520" lvl="1">
              <a:lnSpc>
                <a:spcPts val="4096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</a:t>
            </a:r>
            <a:r>
              <a:rPr lang="en-US" b="true" sz="341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targeted marketing and sales strategies.</a:t>
            </a:r>
          </a:p>
          <a:p>
            <a:pPr algn="l">
              <a:lnSpc>
                <a:spcPts val="4096"/>
              </a:lnSpc>
            </a:pPr>
          </a:p>
          <a:p>
            <a:pPr algn="l" marL="737040" indent="-368520" lvl="1">
              <a:lnSpc>
                <a:spcPts val="4096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Aids in maximizing </a:t>
            </a:r>
            <a:r>
              <a:rPr lang="en-US" b="true" sz="341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 profitability.</a:t>
            </a:r>
          </a:p>
          <a:p>
            <a:pPr algn="l">
              <a:lnSpc>
                <a:spcPts val="4096"/>
              </a:lnSpc>
            </a:pPr>
          </a:p>
          <a:p>
            <a:pPr algn="l">
              <a:lnSpc>
                <a:spcPts val="40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8001" y="9258300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10262" y="4814887"/>
            <a:ext cx="64674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0645" y="9258300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149681" y="1302024"/>
            <a:ext cx="8705221" cy="4475493"/>
          </a:xfrm>
          <a:custGeom>
            <a:avLst/>
            <a:gdLst/>
            <a:ahLst/>
            <a:cxnLst/>
            <a:rect r="r" b="b" t="t" l="l"/>
            <a:pathLst>
              <a:path h="4475493" w="8705221">
                <a:moveTo>
                  <a:pt x="0" y="0"/>
                </a:moveTo>
                <a:lnTo>
                  <a:pt x="8705222" y="0"/>
                </a:lnTo>
                <a:lnTo>
                  <a:pt x="8705222" y="4475492"/>
                </a:lnTo>
                <a:lnTo>
                  <a:pt x="0" y="4475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33400"/>
            <a:ext cx="85704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How many products exist in each category?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652" y="6053741"/>
            <a:ext cx="12512993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035" indent="-328517" lvl="1">
              <a:lnSpc>
                <a:spcPts val="3651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Counts </a:t>
            </a:r>
            <a:r>
              <a:rPr lang="en-US" b="true" sz="30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products per category</a:t>
            </a: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using aggregation query.</a:t>
            </a:r>
          </a:p>
          <a:p>
            <a:pPr algn="l">
              <a:lnSpc>
                <a:spcPts val="3651"/>
              </a:lnSpc>
            </a:pPr>
          </a:p>
          <a:p>
            <a:pPr algn="l" marL="657035" indent="-328517" lvl="1">
              <a:lnSpc>
                <a:spcPts val="3651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Reveals</a:t>
            </a:r>
            <a:r>
              <a:rPr lang="en-US" b="true" sz="30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category distribution</a:t>
            </a: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of inventory.</a:t>
            </a:r>
          </a:p>
          <a:p>
            <a:pPr algn="l">
              <a:lnSpc>
                <a:spcPts val="3651"/>
              </a:lnSpc>
            </a:pPr>
          </a:p>
          <a:p>
            <a:pPr algn="l" marL="657035" indent="-328517" lvl="1">
              <a:lnSpc>
                <a:spcPts val="3651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0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overstocked or underrepresented categories</a:t>
            </a: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51"/>
              </a:lnSpc>
            </a:pPr>
          </a:p>
          <a:p>
            <a:pPr algn="l" marL="657035" indent="-328517" lvl="1">
              <a:lnSpc>
                <a:spcPts val="3651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planning and product assortment decisions</a:t>
            </a: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51"/>
              </a:lnSpc>
            </a:pPr>
          </a:p>
          <a:p>
            <a:pPr algn="l" marL="657035" indent="-328517" lvl="1">
              <a:lnSpc>
                <a:spcPts val="3651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track </a:t>
            </a:r>
            <a:r>
              <a:rPr lang="en-US" b="true" sz="30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category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0503" y="1114647"/>
            <a:ext cx="8098914" cy="4571967"/>
          </a:xfrm>
          <a:custGeom>
            <a:avLst/>
            <a:gdLst/>
            <a:ahLst/>
            <a:cxnLst/>
            <a:rect r="r" b="b" t="t" l="l"/>
            <a:pathLst>
              <a:path h="4571967" w="8098914">
                <a:moveTo>
                  <a:pt x="0" y="0"/>
                </a:moveTo>
                <a:lnTo>
                  <a:pt x="8098914" y="0"/>
                </a:lnTo>
                <a:lnTo>
                  <a:pt x="8098914" y="4571967"/>
                </a:lnTo>
                <a:lnTo>
                  <a:pt x="0" y="457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7273" y="395069"/>
            <a:ext cx="134653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Which products have the highest total sales volume (by quantity)?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139" y="5848482"/>
            <a:ext cx="12858343" cy="40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26" indent="-329213" lvl="1">
              <a:lnSpc>
                <a:spcPts val="3659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top-selling products by quantity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using sales aggregation.</a:t>
            </a:r>
          </a:p>
          <a:p>
            <a:pPr algn="l">
              <a:lnSpc>
                <a:spcPts val="3659"/>
              </a:lnSpc>
            </a:pPr>
          </a:p>
          <a:p>
            <a:pPr algn="l" marL="658426" indent="-329213" lvl="1">
              <a:lnSpc>
                <a:spcPts val="3659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Highlights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 demand items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59"/>
              </a:lnSpc>
            </a:pPr>
          </a:p>
          <a:p>
            <a:pPr algn="l" marL="658426" indent="-329213" lvl="1">
              <a:lnSpc>
                <a:spcPts val="3659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optimize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stock replenishment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levels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59"/>
              </a:lnSpc>
            </a:pPr>
          </a:p>
          <a:p>
            <a:pPr algn="l" marL="658426" indent="-329213" lvl="1">
              <a:lnSpc>
                <a:spcPts val="3659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pricing and promotion decisions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59"/>
              </a:lnSpc>
            </a:pPr>
          </a:p>
          <a:p>
            <a:pPr algn="l" marL="658426" indent="-329213" lvl="1">
              <a:lnSpc>
                <a:spcPts val="3659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Reveals </a:t>
            </a:r>
            <a:r>
              <a:rPr lang="en-US" b="true" sz="30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 popularity trends</a:t>
            </a:r>
            <a:r>
              <a:rPr lang="en-US" sz="30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231508" y="9258300"/>
            <a:ext cx="4838100" cy="1009526"/>
            <a:chOff x="0" y="0"/>
            <a:chExt cx="6450800" cy="1346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94331" y="2610464"/>
            <a:ext cx="7765210" cy="5066073"/>
          </a:xfrm>
          <a:custGeom>
            <a:avLst/>
            <a:gdLst/>
            <a:ahLst/>
            <a:cxnLst/>
            <a:rect r="r" b="b" t="t" l="l"/>
            <a:pathLst>
              <a:path h="5066073" w="7765210">
                <a:moveTo>
                  <a:pt x="0" y="0"/>
                </a:moveTo>
                <a:lnTo>
                  <a:pt x="7765209" y="0"/>
                </a:lnTo>
                <a:lnTo>
                  <a:pt x="7765209" y="5066072"/>
                </a:lnTo>
                <a:lnTo>
                  <a:pt x="0" y="5066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944" y="1305888"/>
            <a:ext cx="1072372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How do product sales vary by category and supplier?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6137" y="2326444"/>
            <a:ext cx="9808193" cy="64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321" indent="-333160" lvl="1">
              <a:lnSpc>
                <a:spcPts val="3703"/>
              </a:lnSpc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Compares</a:t>
            </a:r>
            <a:r>
              <a:rPr lang="en-US" b="true" sz="30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sales performance across categories and suppliers.</a:t>
            </a:r>
          </a:p>
          <a:p>
            <a:pPr algn="l">
              <a:lnSpc>
                <a:spcPts val="3703"/>
              </a:lnSpc>
            </a:pPr>
          </a:p>
          <a:p>
            <a:pPr algn="l" marL="666321" indent="-333160" lvl="1">
              <a:lnSpc>
                <a:spcPts val="3703"/>
              </a:lnSpc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0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top-performing supplier–category combinations</a:t>
            </a: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703"/>
              </a:lnSpc>
            </a:pPr>
          </a:p>
          <a:p>
            <a:pPr algn="l" marL="666321" indent="-333160" lvl="1">
              <a:lnSpc>
                <a:spcPts val="3703"/>
              </a:lnSpc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Reveals</a:t>
            </a:r>
            <a:r>
              <a:rPr lang="en-US" b="true" sz="30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high-revenue and low-revenue segments</a:t>
            </a: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703"/>
              </a:lnSpc>
            </a:pPr>
          </a:p>
          <a:p>
            <a:pPr algn="l" marL="666321" indent="-333160" lvl="1">
              <a:lnSpc>
                <a:spcPts val="3703"/>
              </a:lnSpc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</a:t>
            </a:r>
            <a:r>
              <a:rPr lang="en-US" b="true" sz="30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improve supplier management and product mix</a:t>
            </a: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703"/>
              </a:lnSpc>
            </a:pPr>
          </a:p>
          <a:p>
            <a:pPr algn="l" marL="666321" indent="-333160" lvl="1">
              <a:lnSpc>
                <a:spcPts val="3703"/>
              </a:lnSpc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strategic sourcing and inventory planning</a:t>
            </a:r>
            <a:r>
              <a:rPr lang="en-US" sz="30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231508" y="9277474"/>
            <a:ext cx="4838100" cy="1009526"/>
            <a:chOff x="0" y="0"/>
            <a:chExt cx="6450800" cy="1346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150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66303" y="4814887"/>
            <a:ext cx="69553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and Order Trends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1508" y="9258300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16452" y="2989822"/>
            <a:ext cx="6715400" cy="4648509"/>
          </a:xfrm>
          <a:custGeom>
            <a:avLst/>
            <a:gdLst/>
            <a:ahLst/>
            <a:cxnLst/>
            <a:rect r="r" b="b" t="t" l="l"/>
            <a:pathLst>
              <a:path h="4648509" w="6715400">
                <a:moveTo>
                  <a:pt x="0" y="0"/>
                </a:moveTo>
                <a:lnTo>
                  <a:pt x="6715400" y="0"/>
                </a:lnTo>
                <a:lnTo>
                  <a:pt x="6715400" y="4648510"/>
                </a:lnTo>
                <a:lnTo>
                  <a:pt x="0" y="4648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0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73924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the average value per order?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0349" y="2326428"/>
            <a:ext cx="9416103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Shows the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average order value (AOV) across all orders.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Indicates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spending behavior per purchase.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evaluate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pricing and promotion effectiveness.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tracking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 quality and growth trends.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strategies to increase basket size and sales.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1508" y="9382496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44197" y="2278589"/>
            <a:ext cx="6815103" cy="5729821"/>
          </a:xfrm>
          <a:custGeom>
            <a:avLst/>
            <a:gdLst/>
            <a:ahLst/>
            <a:cxnLst/>
            <a:rect r="r" b="b" t="t" l="l"/>
            <a:pathLst>
              <a:path h="5729821" w="6815103">
                <a:moveTo>
                  <a:pt x="0" y="0"/>
                </a:moveTo>
                <a:lnTo>
                  <a:pt x="6815103" y="0"/>
                </a:lnTo>
                <a:lnTo>
                  <a:pt x="6815103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6196" y="1028700"/>
            <a:ext cx="1192887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are the monthly trends in order volume and revenue?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1869" y="2278589"/>
            <a:ext cx="9785543" cy="69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95" indent="-329597" lvl="1">
              <a:lnSpc>
                <a:spcPts val="3663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eveals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monthly order volume patterns and revenue fluctuations.</a:t>
            </a:r>
          </a:p>
          <a:p>
            <a:pPr algn="l">
              <a:lnSpc>
                <a:spcPts val="3663"/>
              </a:lnSpc>
            </a:pPr>
          </a:p>
          <a:p>
            <a:pPr algn="l" marL="659195" indent="-329597" lvl="1">
              <a:lnSpc>
                <a:spcPts val="3663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identify 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peak sales months</a:t>
            </a: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slow periods.</a:t>
            </a:r>
          </a:p>
          <a:p>
            <a:pPr algn="l">
              <a:lnSpc>
                <a:spcPts val="3663"/>
              </a:lnSpc>
            </a:pPr>
          </a:p>
          <a:p>
            <a:pPr algn="l" marL="659195" indent="-329597" lvl="1">
              <a:lnSpc>
                <a:spcPts val="3663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understanding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seasonality</a:t>
            </a: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demand changes.</a:t>
            </a:r>
          </a:p>
          <a:p>
            <a:pPr algn="l">
              <a:lnSpc>
                <a:spcPts val="3663"/>
              </a:lnSpc>
            </a:pPr>
          </a:p>
          <a:p>
            <a:pPr algn="l" marL="659195" indent="-329597" lvl="1">
              <a:lnSpc>
                <a:spcPts val="3663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planning</a:t>
            </a: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staffing decisions.</a:t>
            </a:r>
          </a:p>
          <a:p>
            <a:pPr algn="l">
              <a:lnSpc>
                <a:spcPts val="3663"/>
              </a:lnSpc>
            </a:pPr>
          </a:p>
          <a:p>
            <a:pPr algn="l" marL="659195" indent="-329597" lvl="1">
              <a:lnSpc>
                <a:spcPts val="3663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Guides</a:t>
            </a:r>
            <a:r>
              <a:rPr lang="en-US" b="true" sz="30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marketing campaigns</a:t>
            </a:r>
            <a:r>
              <a:rPr lang="en-US" sz="30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 maximize revenue.</a:t>
            </a:r>
          </a:p>
          <a:p>
            <a:pPr algn="l">
              <a:lnSpc>
                <a:spcPts val="3663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05738" y="4905375"/>
            <a:ext cx="647652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Supplier Contribution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231508" y="9258300"/>
            <a:ext cx="4838100" cy="1009526"/>
            <a:chOff x="0" y="0"/>
            <a:chExt cx="6450800" cy="13460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94034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183765" y="2592287"/>
            <a:ext cx="7498241" cy="4116682"/>
          </a:xfrm>
          <a:custGeom>
            <a:avLst/>
            <a:gdLst/>
            <a:ahLst/>
            <a:cxnLst/>
            <a:rect r="r" b="b" t="t" l="l"/>
            <a:pathLst>
              <a:path h="4116682" w="7498241">
                <a:moveTo>
                  <a:pt x="0" y="0"/>
                </a:moveTo>
                <a:lnTo>
                  <a:pt x="7498241" y="0"/>
                </a:lnTo>
                <a:lnTo>
                  <a:pt x="7498241" y="4116682"/>
                </a:lnTo>
                <a:lnTo>
                  <a:pt x="0" y="411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81050"/>
            <a:ext cx="951226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How many suppliers are there in the database?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224" y="1911595"/>
            <a:ext cx="9702542" cy="643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4390" indent="-352195" lvl="1">
              <a:lnSpc>
                <a:spcPts val="3915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Shows the </a:t>
            </a:r>
            <a:r>
              <a:rPr lang="en-US" b="true" sz="32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total number of suppliers</a:t>
            </a: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available in the database.</a:t>
            </a:r>
          </a:p>
          <a:p>
            <a:pPr algn="l">
              <a:lnSpc>
                <a:spcPts val="3915"/>
              </a:lnSpc>
            </a:pPr>
          </a:p>
          <a:p>
            <a:pPr algn="l" marL="704390" indent="-352195" lvl="1">
              <a:lnSpc>
                <a:spcPts val="3915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assess </a:t>
            </a:r>
            <a:r>
              <a:rPr lang="en-US" b="true" sz="32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supplier diversity</a:t>
            </a: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sourcing options.</a:t>
            </a:r>
          </a:p>
          <a:p>
            <a:pPr algn="l">
              <a:lnSpc>
                <a:spcPts val="3915"/>
              </a:lnSpc>
            </a:pPr>
          </a:p>
          <a:p>
            <a:pPr algn="l" marL="704390" indent="-352195" lvl="1">
              <a:lnSpc>
                <a:spcPts val="3915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evaluating </a:t>
            </a:r>
            <a:r>
              <a:rPr lang="en-US" b="true" sz="32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supply chain coverage</a:t>
            </a: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915"/>
              </a:lnSpc>
            </a:pPr>
          </a:p>
          <a:p>
            <a:pPr algn="l" marL="704390" indent="-352195" lvl="1">
              <a:lnSpc>
                <a:spcPts val="3915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decisions on </a:t>
            </a:r>
            <a:r>
              <a:rPr lang="en-US" b="true" sz="32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vendor management</a:t>
            </a: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partnerships.</a:t>
            </a:r>
          </a:p>
          <a:p>
            <a:pPr algn="l">
              <a:lnSpc>
                <a:spcPts val="3915"/>
              </a:lnSpc>
            </a:pPr>
          </a:p>
          <a:p>
            <a:pPr algn="l" marL="704390" indent="-352195" lvl="1">
              <a:lnSpc>
                <a:spcPts val="3915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Indicates potential </a:t>
            </a:r>
            <a:r>
              <a:rPr lang="en-US" b="true" sz="32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dependency risks</a:t>
            </a:r>
            <a:r>
              <a:rPr lang="en-US" sz="32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if supplier count is low.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9840" y="1952487"/>
            <a:ext cx="9128160" cy="5064750"/>
          </a:xfrm>
          <a:custGeom>
            <a:avLst/>
            <a:gdLst/>
            <a:ahLst/>
            <a:cxnLst/>
            <a:rect r="r" b="b" t="t" l="l"/>
            <a:pathLst>
              <a:path h="5064750" w="9128160">
                <a:moveTo>
                  <a:pt x="0" y="0"/>
                </a:moveTo>
                <a:lnTo>
                  <a:pt x="9128160" y="0"/>
                </a:lnTo>
                <a:lnTo>
                  <a:pt x="9128160" y="5064750"/>
                </a:lnTo>
                <a:lnTo>
                  <a:pt x="0" y="506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4156" y="781050"/>
            <a:ext cx="148007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Which suppliers contribute the most to total product sales (by revenue)?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5619" y="1751063"/>
            <a:ext cx="8864221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806" indent="-346403" lvl="1">
              <a:lnSpc>
                <a:spcPts val="3850"/>
              </a:lnSpc>
              <a:buFont typeface="Arial"/>
              <a:buChar char="•"/>
            </a:pPr>
            <a:r>
              <a:rPr lang="en-US" sz="3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20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 suppliers by total revenue contribution.</a:t>
            </a:r>
          </a:p>
          <a:p>
            <a:pPr algn="l">
              <a:lnSpc>
                <a:spcPts val="3850"/>
              </a:lnSpc>
            </a:pPr>
          </a:p>
          <a:p>
            <a:pPr algn="l" marL="692806" indent="-346403" lvl="1">
              <a:lnSpc>
                <a:spcPts val="3850"/>
              </a:lnSpc>
              <a:buFont typeface="Arial"/>
              <a:buChar char="•"/>
            </a:pPr>
            <a:r>
              <a:rPr lang="en-US" sz="3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evaluate </a:t>
            </a:r>
            <a:r>
              <a:rPr lang="en-US" b="true" sz="320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supplier performance and profitability.</a:t>
            </a:r>
          </a:p>
          <a:p>
            <a:pPr algn="l">
              <a:lnSpc>
                <a:spcPts val="3850"/>
              </a:lnSpc>
            </a:pPr>
          </a:p>
          <a:p>
            <a:pPr algn="l" marL="692806" indent="-346403" lvl="1">
              <a:lnSpc>
                <a:spcPts val="3850"/>
              </a:lnSpc>
              <a:buFont typeface="Arial"/>
              <a:buChar char="•"/>
            </a:pPr>
            <a:r>
              <a:rPr lang="en-US" sz="3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strengthening relationships with </a:t>
            </a:r>
            <a:r>
              <a:rPr lang="en-US" b="true" sz="320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high-value suppliers.</a:t>
            </a:r>
          </a:p>
          <a:p>
            <a:pPr algn="l">
              <a:lnSpc>
                <a:spcPts val="3850"/>
              </a:lnSpc>
            </a:pPr>
          </a:p>
          <a:p>
            <a:pPr algn="l" marL="692806" indent="-346403" lvl="1">
              <a:lnSpc>
                <a:spcPts val="3850"/>
              </a:lnSpc>
              <a:buFont typeface="Arial"/>
              <a:buChar char="•"/>
            </a:pPr>
            <a:r>
              <a:rPr lang="en-US" sz="3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20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procurement and negotiation strategies.</a:t>
            </a:r>
          </a:p>
          <a:p>
            <a:pPr algn="l">
              <a:lnSpc>
                <a:spcPts val="3850"/>
              </a:lnSpc>
            </a:pPr>
          </a:p>
          <a:p>
            <a:pPr algn="l" marL="692806" indent="-346403" lvl="1">
              <a:lnSpc>
                <a:spcPts val="3850"/>
              </a:lnSpc>
              <a:buFont typeface="Arial"/>
              <a:buChar char="•"/>
            </a:pPr>
            <a:r>
              <a:rPr lang="en-US" sz="3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Highlights opportunities to </a:t>
            </a:r>
            <a:r>
              <a:rPr lang="en-US" b="true" sz="320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optimize sourcing and inventory.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48253" y="4814887"/>
            <a:ext cx="719149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Employee Performance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7472" y="2421778"/>
            <a:ext cx="6651481" cy="5443444"/>
          </a:xfrm>
          <a:custGeom>
            <a:avLst/>
            <a:gdLst/>
            <a:ahLst/>
            <a:cxnLst/>
            <a:rect r="r" b="b" t="t" l="l"/>
            <a:pathLst>
              <a:path h="5443444" w="6651481">
                <a:moveTo>
                  <a:pt x="0" y="0"/>
                </a:moveTo>
                <a:lnTo>
                  <a:pt x="6651482" y="0"/>
                </a:lnTo>
                <a:lnTo>
                  <a:pt x="6651482" y="5443444"/>
                </a:lnTo>
                <a:lnTo>
                  <a:pt x="0" y="5443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998160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Which employees have handled the most orders?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54212"/>
            <a:ext cx="9658983" cy="656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659" indent="-358329" lvl="1">
              <a:lnSpc>
                <a:spcPts val="3983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3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top-performing employees</a:t>
            </a: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by order handling volume.</a:t>
            </a:r>
          </a:p>
          <a:p>
            <a:pPr algn="l">
              <a:lnSpc>
                <a:spcPts val="3983"/>
              </a:lnSpc>
            </a:pPr>
          </a:p>
          <a:p>
            <a:pPr algn="l" marL="716659" indent="-358329" lvl="1">
              <a:lnSpc>
                <a:spcPts val="3983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evaluate </a:t>
            </a:r>
            <a:r>
              <a:rPr lang="en-US" b="true" sz="33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workload distribution</a:t>
            </a: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across staff.</a:t>
            </a:r>
          </a:p>
          <a:p>
            <a:pPr algn="l">
              <a:lnSpc>
                <a:spcPts val="3983"/>
              </a:lnSpc>
            </a:pPr>
          </a:p>
          <a:p>
            <a:pPr algn="l" marL="716659" indent="-358329" lvl="1">
              <a:lnSpc>
                <a:spcPts val="3983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3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reviews and recognition.</a:t>
            </a:r>
          </a:p>
          <a:p>
            <a:pPr algn="l">
              <a:lnSpc>
                <a:spcPts val="3983"/>
              </a:lnSpc>
            </a:pPr>
          </a:p>
          <a:p>
            <a:pPr algn="l" marL="716659" indent="-358329" lvl="1">
              <a:lnSpc>
                <a:spcPts val="3983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Highlights potential </a:t>
            </a:r>
            <a:r>
              <a:rPr lang="en-US" b="true" sz="33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or staffing needs.</a:t>
            </a:r>
          </a:p>
          <a:p>
            <a:pPr algn="l">
              <a:lnSpc>
                <a:spcPts val="3983"/>
              </a:lnSpc>
            </a:pPr>
          </a:p>
          <a:p>
            <a:pPr algn="l" marL="716659" indent="-358329" lvl="1">
              <a:lnSpc>
                <a:spcPts val="3983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Improves overall </a:t>
            </a:r>
            <a:r>
              <a:rPr lang="en-US" b="true" sz="33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operational efficiency.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54411" y="2381063"/>
            <a:ext cx="7185057" cy="5524873"/>
          </a:xfrm>
          <a:custGeom>
            <a:avLst/>
            <a:gdLst/>
            <a:ahLst/>
            <a:cxnLst/>
            <a:rect r="r" b="b" t="t" l="l"/>
            <a:pathLst>
              <a:path h="5524873" w="7185057">
                <a:moveTo>
                  <a:pt x="0" y="0"/>
                </a:moveTo>
                <a:lnTo>
                  <a:pt x="7185057" y="0"/>
                </a:lnTo>
                <a:lnTo>
                  <a:pt x="7185057" y="5524874"/>
                </a:lnTo>
                <a:lnTo>
                  <a:pt x="0" y="5524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4566" y="1028700"/>
            <a:ext cx="119272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the total sales value processed by each employee?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18587"/>
            <a:ext cx="8406844" cy="681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Shows 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 contribution</a:t>
            </a: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 employee.</a:t>
            </a:r>
          </a:p>
          <a:p>
            <a:pPr algn="l">
              <a:lnSpc>
                <a:spcPts val="3655"/>
              </a:lnSpc>
            </a:pPr>
          </a:p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 revenue generators.</a:t>
            </a:r>
          </a:p>
          <a:p>
            <a:pPr algn="l">
              <a:lnSpc>
                <a:spcPts val="3655"/>
              </a:lnSpc>
            </a:pPr>
          </a:p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assess 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performance and productivity.</a:t>
            </a:r>
          </a:p>
          <a:p>
            <a:pPr algn="l">
              <a:lnSpc>
                <a:spcPts val="3655"/>
              </a:lnSpc>
            </a:pPr>
          </a:p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incentive and bonus decisions.</a:t>
            </a:r>
          </a:p>
          <a:p>
            <a:pPr algn="l">
              <a:lnSpc>
                <a:spcPts val="3655"/>
              </a:lnSpc>
            </a:pPr>
          </a:p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Highlights 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or support </a:t>
            </a: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needs for low performers.</a:t>
            </a:r>
          </a:p>
          <a:p>
            <a:pPr algn="l">
              <a:lnSpc>
                <a:spcPts val="3655"/>
              </a:lnSpc>
            </a:pPr>
          </a:p>
          <a:p>
            <a:pPr algn="l" marL="657681" indent="-328841" lvl="1">
              <a:lnSpc>
                <a:spcPts val="3655"/>
              </a:lnSpc>
              <a:buFont typeface="Arial"/>
              <a:buChar char="•"/>
            </a:pPr>
            <a:r>
              <a:rPr lang="en-US" sz="30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</a:t>
            </a:r>
            <a:r>
              <a:rPr lang="en-US" b="true" sz="304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resource planning and workload balance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35454" y="4905375"/>
            <a:ext cx="7217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Details Deep Dive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1616" y="1164502"/>
            <a:ext cx="9364844" cy="4122191"/>
          </a:xfrm>
          <a:custGeom>
            <a:avLst/>
            <a:gdLst/>
            <a:ahLst/>
            <a:cxnLst/>
            <a:rect r="r" b="b" t="t" l="l"/>
            <a:pathLst>
              <a:path h="4122191" w="9364844">
                <a:moveTo>
                  <a:pt x="0" y="0"/>
                </a:moveTo>
                <a:lnTo>
                  <a:pt x="9364844" y="0"/>
                </a:lnTo>
                <a:lnTo>
                  <a:pt x="9364844" y="4122191"/>
                </a:lnTo>
                <a:lnTo>
                  <a:pt x="0" y="4122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8469" y="373927"/>
            <a:ext cx="135458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the relationship between quantity ordered and total price?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8469" y="5581968"/>
            <a:ext cx="12471138" cy="43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Shows 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correlation between quantity and total price.</a:t>
            </a:r>
          </a:p>
          <a:p>
            <a:pPr algn="l">
              <a:lnSpc>
                <a:spcPts val="3137"/>
              </a:lnSpc>
            </a:pPr>
          </a:p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Higher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quantity → higher total revenue</a:t>
            </a: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(generally positive relationship).</a:t>
            </a:r>
          </a:p>
          <a:p>
            <a:pPr algn="l">
              <a:lnSpc>
                <a:spcPts val="3137"/>
              </a:lnSpc>
            </a:pPr>
          </a:p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identify 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bulk purchasing patterns.</a:t>
            </a:r>
          </a:p>
          <a:p>
            <a:pPr algn="l">
              <a:lnSpc>
                <a:spcPts val="3137"/>
              </a:lnSpc>
            </a:pPr>
          </a:p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pricing strategy and discount analysis.</a:t>
            </a:r>
          </a:p>
          <a:p>
            <a:pPr algn="l">
              <a:lnSpc>
                <a:spcPts val="3137"/>
              </a:lnSpc>
            </a:pPr>
          </a:p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Reveals 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high-volume, high-value orders</a:t>
            </a: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137"/>
              </a:lnSpc>
            </a:pPr>
          </a:p>
          <a:p>
            <a:pPr algn="l" marL="564435" indent="-282218" lvl="1">
              <a:lnSpc>
                <a:spcPts val="3137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261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forecasting and demand planning.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71360" y="2576728"/>
            <a:ext cx="7310821" cy="5517342"/>
          </a:xfrm>
          <a:custGeom>
            <a:avLst/>
            <a:gdLst/>
            <a:ahLst/>
            <a:cxnLst/>
            <a:rect r="r" b="b" t="t" l="l"/>
            <a:pathLst>
              <a:path h="5517342" w="7310821">
                <a:moveTo>
                  <a:pt x="0" y="0"/>
                </a:moveTo>
                <a:lnTo>
                  <a:pt x="7310821" y="0"/>
                </a:lnTo>
                <a:lnTo>
                  <a:pt x="7310821" y="5517342"/>
                </a:lnTo>
                <a:lnTo>
                  <a:pt x="0" y="5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5458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the relationship between quantity ordered and total price?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1175"/>
            <a:ext cx="9073849" cy="747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Positive relationship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between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quantity ordered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total price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711"/>
              </a:lnSpc>
            </a:pPr>
          </a:p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quantity increases, total order value increases.</a:t>
            </a:r>
          </a:p>
          <a:p>
            <a:pPr algn="l">
              <a:lnSpc>
                <a:spcPts val="3711"/>
              </a:lnSpc>
            </a:pPr>
          </a:p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Indicates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bulk orders contribute more revenue.</a:t>
            </a:r>
          </a:p>
          <a:p>
            <a:pPr algn="l">
              <a:lnSpc>
                <a:spcPts val="3711"/>
              </a:lnSpc>
            </a:pPr>
          </a:p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detect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pricing consistency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(unit price stability).</a:t>
            </a:r>
          </a:p>
          <a:p>
            <a:pPr algn="l">
              <a:lnSpc>
                <a:spcPts val="3711"/>
              </a:lnSpc>
            </a:pPr>
          </a:p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Useful for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discount evaluation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strategy.</a:t>
            </a:r>
          </a:p>
          <a:p>
            <a:pPr algn="l">
              <a:lnSpc>
                <a:spcPts val="3711"/>
              </a:lnSpc>
            </a:pPr>
          </a:p>
          <a:p>
            <a:pPr algn="l" marL="667792" indent="-333896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</a:t>
            </a:r>
            <a:r>
              <a:rPr lang="en-US" b="true" sz="30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demand and revenue forecasting</a:t>
            </a: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2886" y="685800"/>
            <a:ext cx="1431588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6"/>
              </a:lnSpc>
              <a:spcBef>
                <a:spcPct val="0"/>
              </a:spcBef>
            </a:pPr>
            <a:r>
              <a:rPr lang="en-US" b="true" sz="4513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business insights and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35808"/>
            <a:ext cx="16263226" cy="528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362" indent="-346681" lvl="1">
              <a:lnSpc>
                <a:spcPts val="3853"/>
              </a:lnSpc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 on </a:t>
            </a:r>
            <a:r>
              <a:rPr lang="en-US" b="true" sz="32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high-value customers</a:t>
            </a: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through loyalty and retention strategies.</a:t>
            </a:r>
          </a:p>
          <a:p>
            <a:pPr algn="l">
              <a:lnSpc>
                <a:spcPts val="3853"/>
              </a:lnSpc>
            </a:pPr>
          </a:p>
          <a:p>
            <a:pPr algn="l" marL="693362" indent="-346681" lvl="1">
              <a:lnSpc>
                <a:spcPts val="3853"/>
              </a:lnSpc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Optimize </a:t>
            </a:r>
            <a:r>
              <a:rPr lang="en-US" b="true" sz="32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and product mix</a:t>
            </a: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based on best-selling and low-performing items.</a:t>
            </a:r>
          </a:p>
          <a:p>
            <a:pPr algn="l">
              <a:lnSpc>
                <a:spcPts val="3853"/>
              </a:lnSpc>
            </a:pPr>
          </a:p>
          <a:p>
            <a:pPr algn="l" marL="693362" indent="-346681" lvl="1">
              <a:lnSpc>
                <a:spcPts val="3853"/>
              </a:lnSpc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Strengthen </a:t>
            </a:r>
            <a:r>
              <a:rPr lang="en-US" b="true" sz="32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supplier partnerships</a:t>
            </a: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 improve cost and supply reliability.</a:t>
            </a:r>
          </a:p>
          <a:p>
            <a:pPr algn="l">
              <a:lnSpc>
                <a:spcPts val="3853"/>
              </a:lnSpc>
            </a:pPr>
          </a:p>
          <a:p>
            <a:pPr algn="l" marL="693362" indent="-346681" lvl="1">
              <a:lnSpc>
                <a:spcPts val="3853"/>
              </a:lnSpc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 </a:t>
            </a:r>
            <a:r>
              <a:rPr lang="en-US" b="true" sz="32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employee performance and workload balance</a:t>
            </a: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using operational insights.</a:t>
            </a:r>
          </a:p>
          <a:p>
            <a:pPr algn="l">
              <a:lnSpc>
                <a:spcPts val="3853"/>
              </a:lnSpc>
            </a:pPr>
          </a:p>
          <a:p>
            <a:pPr algn="l" marL="693362" indent="-346681" lvl="1">
              <a:lnSpc>
                <a:spcPts val="3853"/>
              </a:lnSpc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b="true" sz="32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trends and KPIs </a:t>
            </a:r>
            <a:r>
              <a:rPr lang="en-US" sz="32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 data-driven planning, pricing, and forecasting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08483"/>
            <a:ext cx="16514101" cy="5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6"/>
              </a:lnSpc>
            </a:pPr>
            <a:r>
              <a:rPr lang="en-US" b="true" sz="288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insights</a:t>
            </a:r>
            <a:r>
              <a:rPr lang="en-US" sz="28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Identified top customers and ordering patterns to support retention and targeted strategies.</a:t>
            </a:r>
          </a:p>
          <a:p>
            <a:pPr algn="l">
              <a:lnSpc>
                <a:spcPts val="3466"/>
              </a:lnSpc>
            </a:pPr>
          </a:p>
          <a:p>
            <a:pPr algn="l">
              <a:lnSpc>
                <a:spcPts val="3466"/>
              </a:lnSpc>
            </a:pPr>
            <a:r>
              <a:rPr lang="en-US" b="true" sz="288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 &amp; category performance</a:t>
            </a:r>
            <a:r>
              <a:rPr lang="en-US" sz="28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Highlighted high-demand products and revenue-driving categories for better inventory decisions.</a:t>
            </a:r>
          </a:p>
          <a:p>
            <a:pPr algn="l">
              <a:lnSpc>
                <a:spcPts val="3466"/>
              </a:lnSpc>
            </a:pPr>
          </a:p>
          <a:p>
            <a:pPr algn="l">
              <a:lnSpc>
                <a:spcPts val="3466"/>
              </a:lnSpc>
            </a:pPr>
            <a:r>
              <a:rPr lang="en-US" b="true" sz="288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Supplier impact</a:t>
            </a:r>
            <a:r>
              <a:rPr lang="en-US" sz="28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Determined which suppliers contribute most to overall sales.</a:t>
            </a:r>
          </a:p>
          <a:p>
            <a:pPr algn="l">
              <a:lnSpc>
                <a:spcPts val="3466"/>
              </a:lnSpc>
            </a:pPr>
          </a:p>
          <a:p>
            <a:pPr algn="l">
              <a:lnSpc>
                <a:spcPts val="3466"/>
              </a:lnSpc>
            </a:pPr>
            <a:r>
              <a:rPr lang="en-US" b="true" sz="288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Employee performance</a:t>
            </a:r>
            <a:r>
              <a:rPr lang="en-US" sz="28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Evaluated order handling and total sales processed by employees to assess efficiency.</a:t>
            </a:r>
          </a:p>
          <a:p>
            <a:pPr algn="l">
              <a:lnSpc>
                <a:spcPts val="3466"/>
              </a:lnSpc>
            </a:pPr>
          </a:p>
          <a:p>
            <a:pPr algn="l">
              <a:lnSpc>
                <a:spcPts val="3466"/>
              </a:lnSpc>
            </a:pPr>
            <a:r>
              <a:rPr lang="en-US" b="true" sz="288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trends &amp; profitability</a:t>
            </a:r>
            <a:r>
              <a:rPr lang="en-US" sz="28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Analyzed monthly trends and quantity-price relationships to support forecasting and data-driven decisions.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0599"/>
            <a:ext cx="332565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2288" y="2362379"/>
            <a:ext cx="11094336" cy="5562242"/>
          </a:xfrm>
          <a:custGeom>
            <a:avLst/>
            <a:gdLst/>
            <a:ahLst/>
            <a:cxnLst/>
            <a:rect r="r" b="b" t="t" l="l"/>
            <a:pathLst>
              <a:path h="5562242" w="11094336">
                <a:moveTo>
                  <a:pt x="0" y="0"/>
                </a:moveTo>
                <a:lnTo>
                  <a:pt x="11094337" y="0"/>
                </a:lnTo>
                <a:lnTo>
                  <a:pt x="11094337" y="5562242"/>
                </a:lnTo>
                <a:lnTo>
                  <a:pt x="0" y="5562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58965"/>
            <a:ext cx="16230600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15" indent="-32390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Gained hands-on experience in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designing relational databases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understanding real-world business data.</a:t>
            </a:r>
          </a:p>
          <a:p>
            <a:pPr algn="l">
              <a:lnSpc>
                <a:spcPts val="3600"/>
              </a:lnSpc>
            </a:pPr>
          </a:p>
          <a:p>
            <a:pPr algn="l" marL="647815" indent="-32390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Improved skills in writing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complex SQL queries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using joins, aggregations, subqueries, and CTEs.</a:t>
            </a:r>
          </a:p>
          <a:p>
            <a:pPr algn="l">
              <a:lnSpc>
                <a:spcPts val="3600"/>
              </a:lnSpc>
            </a:pPr>
          </a:p>
          <a:p>
            <a:pPr algn="l" marL="647815" indent="-32390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Faced challenges in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maintaining data consistency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correctly linking multiple tables.</a:t>
            </a:r>
          </a:p>
          <a:p>
            <a:pPr algn="l">
              <a:lnSpc>
                <a:spcPts val="3600"/>
              </a:lnSpc>
            </a:pPr>
          </a:p>
          <a:p>
            <a:pPr algn="l" marL="647815" indent="-32390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Worked through issues like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query debugging, handling duplicates, and optimizing results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600"/>
              </a:lnSpc>
            </a:pPr>
          </a:p>
          <a:p>
            <a:pPr algn="l" marL="647815" indent="-32390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Enhanced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analytical thinking and confidence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 using SQL for data-driven decision making.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5038" y="1335053"/>
            <a:ext cx="78889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Experience/Challenges working on SQL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9774" y="2776128"/>
            <a:ext cx="6698466" cy="4251474"/>
            <a:chOff x="0" y="0"/>
            <a:chExt cx="8931288" cy="56686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31275" cy="5668645"/>
            </a:xfrm>
            <a:custGeom>
              <a:avLst/>
              <a:gdLst/>
              <a:ahLst/>
              <a:cxnLst/>
              <a:rect r="r" b="b" t="t" l="l"/>
              <a:pathLst>
                <a:path h="5668645" w="893127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58321" y="4541501"/>
            <a:ext cx="5309902" cy="106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DAHBxuS_MWs</dc:identifier>
  <dcterms:modified xsi:type="dcterms:W3CDTF">2011-08-01T06:04:30Z</dcterms:modified>
  <cp:revision>1</cp:revision>
  <dc:title>Innomatics_Project_Report_Template with SQL_Project_Student_Template.pptx</dc:title>
</cp:coreProperties>
</file>